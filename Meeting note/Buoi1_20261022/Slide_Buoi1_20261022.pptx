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Cabin Bold" charset="1" panose="00000800000000000000"/>
      <p:regular r:id="rId16"/>
    </p:embeddedFont>
    <p:embeddedFont>
      <p:font typeface="Cabin" charset="1" panose="00000500000000000000"/>
      <p:regular r:id="rId17"/>
    </p:embeddedFont>
    <p:embeddedFont>
      <p:font typeface="Cabin Italics" charset="1" panose="000005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jpeg" Type="http://schemas.openxmlformats.org/officeDocument/2006/relationships/image"/><Relationship Id="rId4" Target="../media/image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VAHYuZHtPmA.mp4" Type="http://schemas.openxmlformats.org/officeDocument/2006/relationships/video"/><Relationship Id="rId4" Target="../media/VAHYuZHtPmA.mp4" Type="http://schemas.microsoft.com/office/2007/relationships/media"/></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11156" y="2722044"/>
            <a:ext cx="17865687" cy="2029984"/>
          </a:xfrm>
          <a:prstGeom prst="rect">
            <a:avLst/>
          </a:prstGeom>
        </p:spPr>
        <p:txBody>
          <a:bodyPr anchor="t" rtlCol="false" tIns="0" lIns="0" bIns="0" rIns="0">
            <a:spAutoFit/>
          </a:bodyPr>
          <a:lstStyle/>
          <a:p>
            <a:pPr algn="ctr">
              <a:lnSpc>
                <a:spcPts val="8172"/>
              </a:lnSpc>
            </a:pPr>
            <a:r>
              <a:rPr lang="en-US" b="true" sz="6238" spc="187">
                <a:solidFill>
                  <a:srgbClr val="000000"/>
                </a:solidFill>
                <a:latin typeface="Cabin Bold"/>
                <a:ea typeface="Cabin Bold"/>
                <a:cs typeface="Cabin Bold"/>
                <a:sym typeface="Cabin Bold"/>
              </a:rPr>
              <a:t>THIẾT KẾ VÀ PHÁT TRIỂN HỆ THỐNG </a:t>
            </a:r>
          </a:p>
          <a:p>
            <a:pPr algn="ctr" marL="0" indent="0" lvl="0">
              <a:lnSpc>
                <a:spcPts val="8172"/>
              </a:lnSpc>
              <a:spcBef>
                <a:spcPct val="0"/>
              </a:spcBef>
            </a:pPr>
            <a:r>
              <a:rPr lang="en-US" b="true" sz="6238" spc="187">
                <a:solidFill>
                  <a:srgbClr val="000000"/>
                </a:solidFill>
                <a:latin typeface="Cabin Bold"/>
                <a:ea typeface="Cabin Bold"/>
                <a:cs typeface="Cabin Bold"/>
                <a:sym typeface="Cabin Bold"/>
              </a:rPr>
              <a:t>ĐIỀU KHIỂN DRONE</a:t>
            </a:r>
          </a:p>
        </p:txBody>
      </p:sp>
      <p:sp>
        <p:nvSpPr>
          <p:cNvPr name="TextBox 3" id="3"/>
          <p:cNvSpPr txBox="true"/>
          <p:nvPr/>
        </p:nvSpPr>
        <p:spPr>
          <a:xfrm rot="0">
            <a:off x="4887950" y="6640468"/>
            <a:ext cx="8512101" cy="1830429"/>
          </a:xfrm>
          <a:prstGeom prst="rect">
            <a:avLst/>
          </a:prstGeom>
        </p:spPr>
        <p:txBody>
          <a:bodyPr anchor="t" rtlCol="false" tIns="0" lIns="0" bIns="0" rIns="0">
            <a:spAutoFit/>
          </a:bodyPr>
          <a:lstStyle/>
          <a:p>
            <a:pPr algn="just">
              <a:lnSpc>
                <a:spcPts val="4953"/>
              </a:lnSpc>
            </a:pPr>
            <a:r>
              <a:rPr lang="en-US" sz="3538" spc="176">
                <a:solidFill>
                  <a:srgbClr val="000000"/>
                </a:solidFill>
                <a:latin typeface="Cabin"/>
                <a:ea typeface="Cabin"/>
                <a:cs typeface="Cabin"/>
                <a:sym typeface="Cabin"/>
              </a:rPr>
              <a:t>GVHD: TS. Trần Quang Nguyên</a:t>
            </a:r>
          </a:p>
          <a:p>
            <a:pPr algn="just">
              <a:lnSpc>
                <a:spcPts val="4953"/>
              </a:lnSpc>
            </a:pPr>
            <a:r>
              <a:rPr lang="en-US" sz="3538" spc="176">
                <a:solidFill>
                  <a:srgbClr val="000000"/>
                </a:solidFill>
                <a:latin typeface="Cabin"/>
                <a:ea typeface="Cabin"/>
                <a:cs typeface="Cabin"/>
                <a:sym typeface="Cabin"/>
              </a:rPr>
              <a:t>Thành viên nhóm: </a:t>
            </a:r>
          </a:p>
          <a:p>
            <a:pPr algn="just">
              <a:lnSpc>
                <a:spcPts val="4953"/>
              </a:lnSpc>
            </a:pPr>
            <a:r>
              <a:rPr lang="en-US" sz="3538" spc="176">
                <a:solidFill>
                  <a:srgbClr val="000000"/>
                </a:solidFill>
                <a:latin typeface="Cabin"/>
                <a:ea typeface="Cabin"/>
                <a:cs typeface="Cabin"/>
                <a:sym typeface="Cabin"/>
              </a:rPr>
              <a:t>Nguyễn Mai Trúc - Nguyễn Hữu Danh Vũ</a:t>
            </a:r>
          </a:p>
        </p:txBody>
      </p:sp>
      <p:sp>
        <p:nvSpPr>
          <p:cNvPr name="TextBox 4" id="4"/>
          <p:cNvSpPr txBox="true"/>
          <p:nvPr/>
        </p:nvSpPr>
        <p:spPr>
          <a:xfrm rot="0">
            <a:off x="5052296" y="1644799"/>
            <a:ext cx="8183409" cy="688975"/>
          </a:xfrm>
          <a:prstGeom prst="rect">
            <a:avLst/>
          </a:prstGeom>
        </p:spPr>
        <p:txBody>
          <a:bodyPr anchor="t" rtlCol="false" tIns="0" lIns="0" bIns="0" rIns="0">
            <a:spAutoFit/>
          </a:bodyPr>
          <a:lstStyle/>
          <a:p>
            <a:pPr algn="just">
              <a:lnSpc>
                <a:spcPts val="5600"/>
              </a:lnSpc>
            </a:pPr>
            <a:r>
              <a:rPr lang="en-US" sz="4000" spc="200">
                <a:solidFill>
                  <a:srgbClr val="000000"/>
                </a:solidFill>
                <a:latin typeface="Cabin"/>
                <a:ea typeface="Cabin"/>
                <a:cs typeface="Cabin"/>
                <a:sym typeface="Cabin"/>
              </a:rPr>
              <a:t>Báo cáo tình hình thực hiện đồ án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446549" y="2014125"/>
            <a:ext cx="6551936" cy="6643094"/>
          </a:xfrm>
          <a:custGeom>
            <a:avLst/>
            <a:gdLst/>
            <a:ahLst/>
            <a:cxnLst/>
            <a:rect r="r" b="b" t="t" l="l"/>
            <a:pathLst>
              <a:path h="6643094" w="6551936">
                <a:moveTo>
                  <a:pt x="0" y="0"/>
                </a:moveTo>
                <a:lnTo>
                  <a:pt x="6551936" y="0"/>
                </a:lnTo>
                <a:lnTo>
                  <a:pt x="6551936" y="6643094"/>
                </a:lnTo>
                <a:lnTo>
                  <a:pt x="0" y="6643094"/>
                </a:lnTo>
                <a:lnTo>
                  <a:pt x="0" y="0"/>
                </a:lnTo>
                <a:close/>
              </a:path>
            </a:pathLst>
          </a:custGeom>
          <a:blipFill>
            <a:blip r:embed="rId2"/>
            <a:stretch>
              <a:fillRect l="0" t="0" r="0" b="0"/>
            </a:stretch>
          </a:blipFill>
        </p:spPr>
      </p:sp>
      <p:sp>
        <p:nvSpPr>
          <p:cNvPr name="TextBox 3" id="3"/>
          <p:cNvSpPr txBox="true"/>
          <p:nvPr/>
        </p:nvSpPr>
        <p:spPr>
          <a:xfrm rot="0">
            <a:off x="3565483" y="304927"/>
            <a:ext cx="11157034" cy="718185"/>
          </a:xfrm>
          <a:prstGeom prst="rect">
            <a:avLst/>
          </a:prstGeom>
        </p:spPr>
        <p:txBody>
          <a:bodyPr anchor="t" rtlCol="false" tIns="0" lIns="0" bIns="0" rIns="0">
            <a:spAutoFit/>
          </a:bodyPr>
          <a:lstStyle/>
          <a:p>
            <a:pPr algn="ctr" marL="0" indent="0" lvl="0">
              <a:lnSpc>
                <a:spcPts val="5894"/>
              </a:lnSpc>
              <a:spcBef>
                <a:spcPct val="0"/>
              </a:spcBef>
            </a:pPr>
            <a:r>
              <a:rPr lang="en-US" b="true" sz="4499" spc="134">
                <a:solidFill>
                  <a:srgbClr val="000000"/>
                </a:solidFill>
                <a:latin typeface="Cabin Bold"/>
                <a:ea typeface="Cabin Bold"/>
                <a:cs typeface="Cabin Bold"/>
                <a:sym typeface="Cabin Bold"/>
              </a:rPr>
              <a:t>1. TỔNG QUAN ĐỀ TÀI</a:t>
            </a:r>
          </a:p>
        </p:txBody>
      </p:sp>
      <p:grpSp>
        <p:nvGrpSpPr>
          <p:cNvPr name="Group 4" id="4"/>
          <p:cNvGrpSpPr/>
          <p:nvPr/>
        </p:nvGrpSpPr>
        <p:grpSpPr>
          <a:xfrm rot="0">
            <a:off x="649701" y="1626906"/>
            <a:ext cx="9511761" cy="1417370"/>
            <a:chOff x="0" y="0"/>
            <a:chExt cx="12682348" cy="1889827"/>
          </a:xfrm>
        </p:grpSpPr>
        <p:sp>
          <p:nvSpPr>
            <p:cNvPr name="TextBox 5" id="5"/>
            <p:cNvSpPr txBox="true"/>
            <p:nvPr/>
          </p:nvSpPr>
          <p:spPr>
            <a:xfrm rot="0">
              <a:off x="0" y="0"/>
              <a:ext cx="10585059" cy="508000"/>
            </a:xfrm>
            <a:prstGeom prst="rect">
              <a:avLst/>
            </a:prstGeom>
          </p:spPr>
          <p:txBody>
            <a:bodyPr anchor="t" rtlCol="false" tIns="0" lIns="0" bIns="0" rIns="0">
              <a:spAutoFit/>
            </a:bodyPr>
            <a:lstStyle/>
            <a:p>
              <a:pPr algn="just" marL="0" indent="0" lvl="0">
                <a:lnSpc>
                  <a:spcPts val="3000"/>
                </a:lnSpc>
              </a:pPr>
              <a:r>
                <a:rPr lang="en-US" b="true" sz="2500" spc="50">
                  <a:solidFill>
                    <a:srgbClr val="000000"/>
                  </a:solidFill>
                  <a:latin typeface="Cabin Bold"/>
                  <a:ea typeface="Cabin Bold"/>
                  <a:cs typeface="Cabin Bold"/>
                  <a:sym typeface="Cabin Bold"/>
                </a:rPr>
                <a:t>1.1 MỤC TIÊU ĐỀ TÀI</a:t>
              </a:r>
            </a:p>
          </p:txBody>
        </p:sp>
        <p:sp>
          <p:nvSpPr>
            <p:cNvPr name="TextBox 6" id="6"/>
            <p:cNvSpPr txBox="true"/>
            <p:nvPr/>
          </p:nvSpPr>
          <p:spPr>
            <a:xfrm rot="0">
              <a:off x="0" y="680152"/>
              <a:ext cx="12682348" cy="1209675"/>
            </a:xfrm>
            <a:prstGeom prst="rect">
              <a:avLst/>
            </a:prstGeom>
          </p:spPr>
          <p:txBody>
            <a:bodyPr anchor="t" rtlCol="false" tIns="0" lIns="0" bIns="0" rIns="0">
              <a:spAutoFit/>
            </a:bodyPr>
            <a:lstStyle/>
            <a:p>
              <a:pPr algn="just">
                <a:lnSpc>
                  <a:spcPts val="3750"/>
                </a:lnSpc>
              </a:pPr>
              <a:r>
                <a:rPr lang="en-US" sz="2500" spc="50">
                  <a:solidFill>
                    <a:srgbClr val="000000"/>
                  </a:solidFill>
                  <a:latin typeface="Cabin"/>
                  <a:ea typeface="Cabin"/>
                  <a:cs typeface="Cabin"/>
                  <a:sym typeface="Cabin"/>
                </a:rPr>
                <a:t>Thiết</a:t>
              </a:r>
              <a:r>
                <a:rPr lang="en-US" sz="2500" spc="50">
                  <a:solidFill>
                    <a:srgbClr val="000000"/>
                  </a:solidFill>
                  <a:latin typeface="Cabin"/>
                  <a:ea typeface="Cabin"/>
                  <a:cs typeface="Cabin"/>
                  <a:sym typeface="Cabin"/>
                </a:rPr>
                <a:t> kế, phát triển drone sử dụng STM32, xây dựng hệ thống điều khiển giúp drone có khả năng bay ổn định.</a:t>
              </a:r>
            </a:p>
          </p:txBody>
        </p:sp>
      </p:grpSp>
      <p:grpSp>
        <p:nvGrpSpPr>
          <p:cNvPr name="Group 7" id="7"/>
          <p:cNvGrpSpPr/>
          <p:nvPr/>
        </p:nvGrpSpPr>
        <p:grpSpPr>
          <a:xfrm rot="0">
            <a:off x="675318" y="3813181"/>
            <a:ext cx="9511761" cy="1939809"/>
            <a:chOff x="0" y="0"/>
            <a:chExt cx="12682348" cy="2586412"/>
          </a:xfrm>
        </p:grpSpPr>
        <p:sp>
          <p:nvSpPr>
            <p:cNvPr name="TextBox 8" id="8"/>
            <p:cNvSpPr txBox="true"/>
            <p:nvPr/>
          </p:nvSpPr>
          <p:spPr>
            <a:xfrm rot="0">
              <a:off x="0" y="0"/>
              <a:ext cx="7050964" cy="508000"/>
            </a:xfrm>
            <a:prstGeom prst="rect">
              <a:avLst/>
            </a:prstGeom>
          </p:spPr>
          <p:txBody>
            <a:bodyPr anchor="t" rtlCol="false" tIns="0" lIns="0" bIns="0" rIns="0">
              <a:spAutoFit/>
            </a:bodyPr>
            <a:lstStyle/>
            <a:p>
              <a:pPr algn="just" marL="0" indent="0" lvl="0">
                <a:lnSpc>
                  <a:spcPts val="3000"/>
                </a:lnSpc>
              </a:pPr>
              <a:r>
                <a:rPr lang="en-US" b="true" sz="2500" spc="50">
                  <a:solidFill>
                    <a:srgbClr val="000000"/>
                  </a:solidFill>
                  <a:latin typeface="Cabin Bold"/>
                  <a:ea typeface="Cabin Bold"/>
                  <a:cs typeface="Cabin Bold"/>
                  <a:sym typeface="Cabin Bold"/>
                </a:rPr>
                <a:t>1.2 ĐỊNH HƯỚNG PHÁT TRIỂN </a:t>
              </a:r>
            </a:p>
          </p:txBody>
        </p:sp>
        <p:sp>
          <p:nvSpPr>
            <p:cNvPr name="TextBox 9" id="9"/>
            <p:cNvSpPr txBox="true"/>
            <p:nvPr/>
          </p:nvSpPr>
          <p:spPr>
            <a:xfrm rot="0">
              <a:off x="0" y="741737"/>
              <a:ext cx="12682348" cy="1844675"/>
            </a:xfrm>
            <a:prstGeom prst="rect">
              <a:avLst/>
            </a:prstGeom>
          </p:spPr>
          <p:txBody>
            <a:bodyPr anchor="t" rtlCol="false" tIns="0" lIns="0" bIns="0" rIns="0">
              <a:spAutoFit/>
            </a:bodyPr>
            <a:lstStyle/>
            <a:p>
              <a:pPr algn="just">
                <a:lnSpc>
                  <a:spcPts val="3750"/>
                </a:lnSpc>
              </a:pPr>
              <a:r>
                <a:rPr lang="en-US" sz="2500" spc="50">
                  <a:solidFill>
                    <a:srgbClr val="000000"/>
                  </a:solidFill>
                  <a:latin typeface="Cabin"/>
                  <a:ea typeface="Cabin"/>
                  <a:cs typeface="Cabin"/>
                  <a:sym typeface="Cabin"/>
                </a:rPr>
                <a:t>Sau khi hoàn thiện khả năng bay, nghiên cứu tích hợp các ứng dụng thực tế như sử dụng camera để thu thập hình ảnh và xây dựng bản đồ khu vực.</a:t>
              </a:r>
            </a:p>
          </p:txBody>
        </p:sp>
      </p:grpSp>
      <p:grpSp>
        <p:nvGrpSpPr>
          <p:cNvPr name="Group 10" id="10"/>
          <p:cNvGrpSpPr/>
          <p:nvPr/>
        </p:nvGrpSpPr>
        <p:grpSpPr>
          <a:xfrm rot="0">
            <a:off x="649701" y="6608888"/>
            <a:ext cx="9811909" cy="3320292"/>
            <a:chOff x="0" y="0"/>
            <a:chExt cx="13082545" cy="4427056"/>
          </a:xfrm>
        </p:grpSpPr>
        <p:sp>
          <p:nvSpPr>
            <p:cNvPr name="TextBox 11" id="11"/>
            <p:cNvSpPr txBox="true"/>
            <p:nvPr/>
          </p:nvSpPr>
          <p:spPr>
            <a:xfrm rot="0">
              <a:off x="0" y="0"/>
              <a:ext cx="6157929" cy="508000"/>
            </a:xfrm>
            <a:prstGeom prst="rect">
              <a:avLst/>
            </a:prstGeom>
          </p:spPr>
          <p:txBody>
            <a:bodyPr anchor="t" rtlCol="false" tIns="0" lIns="0" bIns="0" rIns="0">
              <a:spAutoFit/>
            </a:bodyPr>
            <a:lstStyle/>
            <a:p>
              <a:pPr algn="l" marL="0" indent="0" lvl="0">
                <a:lnSpc>
                  <a:spcPts val="3000"/>
                </a:lnSpc>
              </a:pPr>
              <a:r>
                <a:rPr lang="en-US" b="true" sz="2500" spc="50">
                  <a:solidFill>
                    <a:srgbClr val="000000"/>
                  </a:solidFill>
                  <a:latin typeface="Cabin Bold"/>
                  <a:ea typeface="Cabin Bold"/>
                  <a:cs typeface="Cabin Bold"/>
                  <a:sym typeface="Cabin Bold"/>
                </a:rPr>
                <a:t>1.3 TÌNH HÌNH HIỆN TẠI</a:t>
              </a:r>
            </a:p>
          </p:txBody>
        </p:sp>
        <p:sp>
          <p:nvSpPr>
            <p:cNvPr name="TextBox 12" id="12"/>
            <p:cNvSpPr txBox="true"/>
            <p:nvPr/>
          </p:nvSpPr>
          <p:spPr>
            <a:xfrm rot="0">
              <a:off x="0" y="677381"/>
              <a:ext cx="13082545" cy="3749675"/>
            </a:xfrm>
            <a:prstGeom prst="rect">
              <a:avLst/>
            </a:prstGeom>
          </p:spPr>
          <p:txBody>
            <a:bodyPr anchor="t" rtlCol="false" tIns="0" lIns="0" bIns="0" rIns="0">
              <a:spAutoFit/>
            </a:bodyPr>
            <a:lstStyle/>
            <a:p>
              <a:pPr algn="just">
                <a:lnSpc>
                  <a:spcPts val="3750"/>
                </a:lnSpc>
              </a:pPr>
              <a:r>
                <a:rPr lang="en-US" sz="2500" spc="50">
                  <a:solidFill>
                    <a:srgbClr val="000000"/>
                  </a:solidFill>
                  <a:latin typeface="Cabin"/>
                  <a:ea typeface="Cabin"/>
                  <a:cs typeface="Cabin"/>
                  <a:sym typeface="Cabin"/>
                </a:rPr>
                <a:t>- Đã hoàn thiện bước đầu phần cứng và các chức năng điều khiển cơ bản.</a:t>
              </a:r>
            </a:p>
            <a:p>
              <a:pPr algn="just">
                <a:lnSpc>
                  <a:spcPts val="3750"/>
                </a:lnSpc>
              </a:pPr>
              <a:r>
                <a:rPr lang="en-US" sz="2500" spc="50">
                  <a:solidFill>
                    <a:srgbClr val="000000"/>
                  </a:solidFill>
                  <a:latin typeface="Cabin"/>
                  <a:ea typeface="Cabin"/>
                  <a:cs typeface="Cabin"/>
                  <a:sym typeface="Cabin"/>
                </a:rPr>
                <a:t>- Đã triển khai thuật toán Cascade PID (Angle–Rate).</a:t>
              </a:r>
            </a:p>
            <a:p>
              <a:pPr algn="just">
                <a:lnSpc>
                  <a:spcPts val="3750"/>
                </a:lnSpc>
              </a:pPr>
              <a:r>
                <a:rPr lang="en-US" sz="2500" spc="50">
                  <a:solidFill>
                    <a:srgbClr val="000000"/>
                  </a:solidFill>
                  <a:latin typeface="Cabin"/>
                  <a:ea typeface="Cabin"/>
                  <a:cs typeface="Cabin"/>
                  <a:sym typeface="Cabin"/>
                </a:rPr>
                <a:t>- Đang thử nghiệm và tinh chỉnh PID trên giá đỡ, chưa tiến hành bay tự do.</a:t>
              </a:r>
            </a:p>
            <a:p>
              <a:pPr algn="just">
                <a:lnSpc>
                  <a:spcPts val="3750"/>
                </a:lnSpc>
              </a:pPr>
            </a:p>
          </p:txBody>
        </p:sp>
      </p:grpSp>
      <p:sp>
        <p:nvSpPr>
          <p:cNvPr name="TextBox 13" id="13"/>
          <p:cNvSpPr txBox="true"/>
          <p:nvPr/>
        </p:nvSpPr>
        <p:spPr>
          <a:xfrm rot="0">
            <a:off x="12957243" y="8820150"/>
            <a:ext cx="4302057" cy="438150"/>
          </a:xfrm>
          <a:prstGeom prst="rect">
            <a:avLst/>
          </a:prstGeom>
        </p:spPr>
        <p:txBody>
          <a:bodyPr anchor="t" rtlCol="false" tIns="0" lIns="0" bIns="0" rIns="0">
            <a:spAutoFit/>
          </a:bodyPr>
          <a:lstStyle/>
          <a:p>
            <a:pPr algn="l">
              <a:lnSpc>
                <a:spcPts val="3749"/>
              </a:lnSpc>
            </a:pPr>
            <a:r>
              <a:rPr lang="en-US" sz="2499" spc="49">
                <a:solidFill>
                  <a:srgbClr val="000000"/>
                </a:solidFill>
                <a:latin typeface="Cabin"/>
                <a:ea typeface="Cabin"/>
                <a:cs typeface="Cabin"/>
                <a:sym typeface="Cabin"/>
              </a:rPr>
              <a:t>Sơ đồ khối tổng quan hệ thống</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889306" y="1362799"/>
          <a:ext cx="14509389" cy="8191500"/>
        </p:xfrm>
        <a:graphic>
          <a:graphicData uri="http://schemas.openxmlformats.org/drawingml/2006/table">
            <a:tbl>
              <a:tblPr/>
              <a:tblGrid>
                <a:gridCol w="7254694"/>
                <a:gridCol w="7254694"/>
              </a:tblGrid>
              <a:tr h="1023938">
                <a:tc>
                  <a:txBody>
                    <a:bodyPr anchor="t" rtlCol="false"/>
                    <a:lstStyle/>
                    <a:p>
                      <a:pPr algn="ctr">
                        <a:lnSpc>
                          <a:spcPts val="3499"/>
                        </a:lnSpc>
                        <a:defRPr/>
                      </a:pPr>
                      <a:r>
                        <a:rPr lang="en-US" sz="2499" b="true">
                          <a:solidFill>
                            <a:srgbClr val="000000"/>
                          </a:solidFill>
                          <a:latin typeface="Cabin Bold"/>
                          <a:ea typeface="Cabin Bold"/>
                          <a:cs typeface="Cabin Bold"/>
                          <a:sym typeface="Cabin Bold"/>
                        </a:rPr>
                        <a:t>HẠNG MỤC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b="true">
                          <a:solidFill>
                            <a:srgbClr val="000000"/>
                          </a:solidFill>
                          <a:latin typeface="Cabin Bold"/>
                          <a:ea typeface="Cabin Bold"/>
                          <a:cs typeface="Cabin Bold"/>
                          <a:sym typeface="Cabin Bold"/>
                        </a:rPr>
                        <a:t>TRẠNG THÁI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3938">
                <a:tc>
                  <a:txBody>
                    <a:bodyPr anchor="t" rtlCol="false"/>
                    <a:lstStyle/>
                    <a:p>
                      <a:pPr algn="ctr">
                        <a:lnSpc>
                          <a:spcPts val="3499"/>
                        </a:lnSpc>
                        <a:defRPr/>
                      </a:pPr>
                      <a:r>
                        <a:rPr lang="en-US" sz="2499">
                          <a:solidFill>
                            <a:srgbClr val="000000"/>
                          </a:solidFill>
                          <a:latin typeface="Cabin"/>
                          <a:ea typeface="Cabin"/>
                          <a:cs typeface="Cabin"/>
                          <a:sym typeface="Cabin"/>
                        </a:rPr>
                        <a:t>Lắp ráp phần cứng cơ bản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Cabin"/>
                          <a:ea typeface="Cabin"/>
                          <a:cs typeface="Cabin"/>
                          <a:sym typeface="Cabin"/>
                        </a:rPr>
                        <a: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3938">
                <a:tc>
                  <a:txBody>
                    <a:bodyPr anchor="t" rtlCol="false"/>
                    <a:lstStyle/>
                    <a:p>
                      <a:pPr algn="ctr">
                        <a:lnSpc>
                          <a:spcPts val="3499"/>
                        </a:lnSpc>
                        <a:defRPr/>
                      </a:pPr>
                      <a:r>
                        <a:rPr lang="en-US" sz="2499">
                          <a:solidFill>
                            <a:srgbClr val="000000"/>
                          </a:solidFill>
                          <a:latin typeface="Cabin"/>
                          <a:ea typeface="Cabin"/>
                          <a:cs typeface="Cabin"/>
                          <a:sym typeface="Cabin"/>
                        </a:rPr>
                        <a:t>Firmware STM32 và ESP32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Cabin"/>
                          <a:ea typeface="Cabin"/>
                          <a:cs typeface="Cabin"/>
                          <a:sym typeface="Cabin"/>
                        </a:rPr>
                        <a: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3938">
                <a:tc>
                  <a:txBody>
                    <a:bodyPr anchor="t" rtlCol="false"/>
                    <a:lstStyle/>
                    <a:p>
                      <a:pPr algn="ctr">
                        <a:lnSpc>
                          <a:spcPts val="3499"/>
                        </a:lnSpc>
                        <a:defRPr/>
                      </a:pPr>
                      <a:r>
                        <a:rPr lang="en-US" sz="2499">
                          <a:solidFill>
                            <a:srgbClr val="000000"/>
                          </a:solidFill>
                          <a:latin typeface="Cabin"/>
                          <a:ea typeface="Cabin"/>
                          <a:cs typeface="Cabin"/>
                          <a:sym typeface="Cabin"/>
                        </a:rPr>
                        <a:t>Truyền nhận LoRa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Cabin"/>
                          <a:ea typeface="Cabin"/>
                          <a:cs typeface="Cabin"/>
                          <a:sym typeface="Cabin"/>
                        </a:rPr>
                        <a: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3938">
                <a:tc>
                  <a:txBody>
                    <a:bodyPr anchor="t" rtlCol="false"/>
                    <a:lstStyle/>
                    <a:p>
                      <a:pPr algn="ctr">
                        <a:lnSpc>
                          <a:spcPts val="3499"/>
                        </a:lnSpc>
                        <a:defRPr/>
                      </a:pPr>
                      <a:r>
                        <a:rPr lang="en-US" sz="2499">
                          <a:solidFill>
                            <a:srgbClr val="000000"/>
                          </a:solidFill>
                          <a:latin typeface="Cabin"/>
                          <a:ea typeface="Cabin"/>
                          <a:cs typeface="Cabin"/>
                          <a:sym typeface="Cabin"/>
                        </a:rPr>
                        <a:t>Đọc và xử lý IMU</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Cabin"/>
                          <a:ea typeface="Cabin"/>
                          <a:cs typeface="Cabin"/>
                          <a:sym typeface="Cabin"/>
                        </a:rPr>
                        <a: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3938">
                <a:tc>
                  <a:txBody>
                    <a:bodyPr anchor="t" rtlCol="false"/>
                    <a:lstStyle/>
                    <a:p>
                      <a:pPr algn="ctr">
                        <a:lnSpc>
                          <a:spcPts val="3499"/>
                        </a:lnSpc>
                        <a:defRPr/>
                      </a:pPr>
                      <a:r>
                        <a:rPr lang="en-US" sz="2499">
                          <a:solidFill>
                            <a:srgbClr val="000000"/>
                          </a:solidFill>
                          <a:latin typeface="Cabin"/>
                          <a:ea typeface="Cabin"/>
                          <a:cs typeface="Cabin"/>
                          <a:sym typeface="Cabin"/>
                        </a:rPr>
                        <a:t>Điều khiển motor qua ESC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Cabin"/>
                          <a:ea typeface="Cabin"/>
                          <a:cs typeface="Cabin"/>
                          <a:sym typeface="Cabin"/>
                        </a:rPr>
                        <a: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3938">
                <a:tc>
                  <a:txBody>
                    <a:bodyPr anchor="t" rtlCol="false"/>
                    <a:lstStyle/>
                    <a:p>
                      <a:pPr algn="ctr">
                        <a:lnSpc>
                          <a:spcPts val="3499"/>
                        </a:lnSpc>
                        <a:defRPr/>
                      </a:pPr>
                      <a:r>
                        <a:rPr lang="en-US" sz="2499">
                          <a:solidFill>
                            <a:srgbClr val="000000"/>
                          </a:solidFill>
                          <a:latin typeface="Cabin"/>
                          <a:ea typeface="Cabin"/>
                          <a:cs typeface="Cabin"/>
                          <a:sym typeface="Cabin"/>
                        </a:rPr>
                        <a:t>Cascade PID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Cabin"/>
                          <a:ea typeface="Cabin"/>
                          <a:cs typeface="Cabin"/>
                          <a:sym typeface="Cabin"/>
                        </a:rPr>
                        <a:t>Đang tinh chỉnh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3938">
                <a:tc>
                  <a:txBody>
                    <a:bodyPr anchor="t" rtlCol="false"/>
                    <a:lstStyle/>
                    <a:p>
                      <a:pPr algn="ctr">
                        <a:lnSpc>
                          <a:spcPts val="3499"/>
                        </a:lnSpc>
                        <a:defRPr/>
                      </a:pPr>
                      <a:r>
                        <a:rPr lang="en-US" sz="2499">
                          <a:solidFill>
                            <a:srgbClr val="000000"/>
                          </a:solidFill>
                          <a:latin typeface="Cabin"/>
                          <a:ea typeface="Cabin"/>
                          <a:cs typeface="Cabin"/>
                          <a:sym typeface="Cabin"/>
                        </a:rPr>
                        <a:t>Bay tự do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Cabin"/>
                          <a:ea typeface="Cabin"/>
                          <a:cs typeface="Cabin"/>
                          <a:sym typeface="Cabin"/>
                        </a:rPr>
                        <a:t>Chưa (đang test trên giá đỡ)</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3" id="3"/>
          <p:cNvSpPr txBox="true"/>
          <p:nvPr/>
        </p:nvSpPr>
        <p:spPr>
          <a:xfrm rot="0">
            <a:off x="3565483" y="310515"/>
            <a:ext cx="11157034" cy="718185"/>
          </a:xfrm>
          <a:prstGeom prst="rect">
            <a:avLst/>
          </a:prstGeom>
        </p:spPr>
        <p:txBody>
          <a:bodyPr anchor="t" rtlCol="false" tIns="0" lIns="0" bIns="0" rIns="0">
            <a:spAutoFit/>
          </a:bodyPr>
          <a:lstStyle/>
          <a:p>
            <a:pPr algn="ctr" marL="0" indent="0" lvl="0">
              <a:lnSpc>
                <a:spcPts val="5894"/>
              </a:lnSpc>
              <a:spcBef>
                <a:spcPct val="0"/>
              </a:spcBef>
            </a:pPr>
            <a:r>
              <a:rPr lang="en-US" b="true" sz="4499" spc="134">
                <a:solidFill>
                  <a:srgbClr val="000000"/>
                </a:solidFill>
                <a:latin typeface="Cabin Bold"/>
                <a:ea typeface="Cabin Bold"/>
                <a:cs typeface="Cabin Bold"/>
                <a:sym typeface="Cabin Bold"/>
              </a:rPr>
              <a:t>2. TIẾN ĐỘ TỔNG HỢP</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565483" y="310515"/>
            <a:ext cx="11157034" cy="718185"/>
          </a:xfrm>
          <a:prstGeom prst="rect">
            <a:avLst/>
          </a:prstGeom>
        </p:spPr>
        <p:txBody>
          <a:bodyPr anchor="t" rtlCol="false" tIns="0" lIns="0" bIns="0" rIns="0">
            <a:spAutoFit/>
          </a:bodyPr>
          <a:lstStyle/>
          <a:p>
            <a:pPr algn="ctr" marL="0" indent="0" lvl="0">
              <a:lnSpc>
                <a:spcPts val="5894"/>
              </a:lnSpc>
              <a:spcBef>
                <a:spcPct val="0"/>
              </a:spcBef>
            </a:pPr>
            <a:r>
              <a:rPr lang="en-US" b="true" sz="4499" spc="134">
                <a:solidFill>
                  <a:srgbClr val="000000"/>
                </a:solidFill>
                <a:latin typeface="Cabin Bold"/>
                <a:ea typeface="Cabin Bold"/>
                <a:cs typeface="Cabin Bold"/>
                <a:sym typeface="Cabin Bold"/>
              </a:rPr>
              <a:t>3. THIẾT BỊ &amp; PHẦN CỨNG HIỆN TẠI</a:t>
            </a:r>
          </a:p>
        </p:txBody>
      </p:sp>
      <p:sp>
        <p:nvSpPr>
          <p:cNvPr name="AutoShape 3" id="3"/>
          <p:cNvSpPr/>
          <p:nvPr/>
        </p:nvSpPr>
        <p:spPr>
          <a:xfrm flipH="true">
            <a:off x="5874239" y="1789867"/>
            <a:ext cx="0" cy="7468433"/>
          </a:xfrm>
          <a:prstGeom prst="line">
            <a:avLst/>
          </a:prstGeom>
          <a:ln cap="flat" w="28575">
            <a:solidFill>
              <a:srgbClr val="000000"/>
            </a:solidFill>
            <a:prstDash val="solid"/>
            <a:headEnd type="none" len="sm" w="sm"/>
            <a:tailEnd type="none" len="sm" w="sm"/>
          </a:ln>
        </p:spPr>
      </p:sp>
      <p:sp>
        <p:nvSpPr>
          <p:cNvPr name="Freeform 4" id="4"/>
          <p:cNvSpPr/>
          <p:nvPr/>
        </p:nvSpPr>
        <p:spPr>
          <a:xfrm flipH="false" flipV="false" rot="0">
            <a:off x="601442" y="1789867"/>
            <a:ext cx="4608146" cy="4990772"/>
          </a:xfrm>
          <a:custGeom>
            <a:avLst/>
            <a:gdLst/>
            <a:ahLst/>
            <a:cxnLst/>
            <a:rect r="r" b="b" t="t" l="l"/>
            <a:pathLst>
              <a:path h="4990772" w="4608146">
                <a:moveTo>
                  <a:pt x="0" y="0"/>
                </a:moveTo>
                <a:lnTo>
                  <a:pt x="4608146" y="0"/>
                </a:lnTo>
                <a:lnTo>
                  <a:pt x="4608146" y="4990772"/>
                </a:lnTo>
                <a:lnTo>
                  <a:pt x="0" y="4990772"/>
                </a:lnTo>
                <a:lnTo>
                  <a:pt x="0" y="0"/>
                </a:lnTo>
                <a:close/>
              </a:path>
            </a:pathLst>
          </a:custGeom>
          <a:blipFill>
            <a:blip r:embed="rId2"/>
            <a:stretch>
              <a:fillRect l="0" t="0" r="0" b="0"/>
            </a:stretch>
          </a:blipFill>
        </p:spPr>
      </p:sp>
      <p:sp>
        <p:nvSpPr>
          <p:cNvPr name="Freeform 5" id="5"/>
          <p:cNvSpPr/>
          <p:nvPr/>
        </p:nvSpPr>
        <p:spPr>
          <a:xfrm flipH="false" flipV="false" rot="0">
            <a:off x="6660051" y="1789867"/>
            <a:ext cx="4930467" cy="4990772"/>
          </a:xfrm>
          <a:custGeom>
            <a:avLst/>
            <a:gdLst/>
            <a:ahLst/>
            <a:cxnLst/>
            <a:rect r="r" b="b" t="t" l="l"/>
            <a:pathLst>
              <a:path h="4990772" w="4930467">
                <a:moveTo>
                  <a:pt x="0" y="0"/>
                </a:moveTo>
                <a:lnTo>
                  <a:pt x="4930467" y="0"/>
                </a:lnTo>
                <a:lnTo>
                  <a:pt x="4930467" y="4990772"/>
                </a:lnTo>
                <a:lnTo>
                  <a:pt x="0" y="4990772"/>
                </a:lnTo>
                <a:lnTo>
                  <a:pt x="0" y="0"/>
                </a:lnTo>
                <a:close/>
              </a:path>
            </a:pathLst>
          </a:custGeom>
          <a:blipFill>
            <a:blip r:embed="rId3"/>
            <a:stretch>
              <a:fillRect l="0" t="0" r="0" b="0"/>
            </a:stretch>
          </a:blipFill>
        </p:spPr>
      </p:sp>
      <p:sp>
        <p:nvSpPr>
          <p:cNvPr name="Freeform 6" id="6"/>
          <p:cNvSpPr/>
          <p:nvPr/>
        </p:nvSpPr>
        <p:spPr>
          <a:xfrm flipH="false" flipV="false" rot="0">
            <a:off x="13040981" y="1789867"/>
            <a:ext cx="4645577" cy="4990772"/>
          </a:xfrm>
          <a:custGeom>
            <a:avLst/>
            <a:gdLst/>
            <a:ahLst/>
            <a:cxnLst/>
            <a:rect r="r" b="b" t="t" l="l"/>
            <a:pathLst>
              <a:path h="4990772" w="4645577">
                <a:moveTo>
                  <a:pt x="0" y="0"/>
                </a:moveTo>
                <a:lnTo>
                  <a:pt x="4645577" y="0"/>
                </a:lnTo>
                <a:lnTo>
                  <a:pt x="4645577" y="4990772"/>
                </a:lnTo>
                <a:lnTo>
                  <a:pt x="0" y="4990772"/>
                </a:lnTo>
                <a:lnTo>
                  <a:pt x="0" y="0"/>
                </a:lnTo>
                <a:close/>
              </a:path>
            </a:pathLst>
          </a:custGeom>
          <a:blipFill>
            <a:blip r:embed="rId4"/>
            <a:stretch>
              <a:fillRect l="0" t="0" r="0" b="0"/>
            </a:stretch>
          </a:blipFill>
        </p:spPr>
      </p:sp>
      <p:sp>
        <p:nvSpPr>
          <p:cNvPr name="TextBox 7" id="7"/>
          <p:cNvSpPr txBox="true"/>
          <p:nvPr/>
        </p:nvSpPr>
        <p:spPr>
          <a:xfrm rot="0">
            <a:off x="6660051" y="6486525"/>
            <a:ext cx="4623792" cy="3305175"/>
          </a:xfrm>
          <a:prstGeom prst="rect">
            <a:avLst/>
          </a:prstGeom>
        </p:spPr>
        <p:txBody>
          <a:bodyPr anchor="t" rtlCol="false" tIns="0" lIns="0" bIns="0" rIns="0">
            <a:spAutoFit/>
          </a:bodyPr>
          <a:lstStyle/>
          <a:p>
            <a:pPr algn="l">
              <a:lnSpc>
                <a:spcPts val="3750"/>
              </a:lnSpc>
            </a:pPr>
          </a:p>
          <a:p>
            <a:pPr algn="l">
              <a:lnSpc>
                <a:spcPts val="3750"/>
              </a:lnSpc>
            </a:pPr>
            <a:r>
              <a:rPr lang="en-US" sz="2500" spc="50">
                <a:solidFill>
                  <a:srgbClr val="000000"/>
                </a:solidFill>
                <a:latin typeface="Cabin"/>
                <a:ea typeface="Cabin"/>
                <a:cs typeface="Cabin"/>
                <a:sym typeface="Cabin"/>
              </a:rPr>
              <a:t>3.2. FC tự phát triển: </a:t>
            </a:r>
          </a:p>
          <a:p>
            <a:pPr algn="l">
              <a:lnSpc>
                <a:spcPts val="3750"/>
              </a:lnSpc>
            </a:pPr>
            <a:r>
              <a:rPr lang="en-US" sz="2500" spc="50">
                <a:solidFill>
                  <a:srgbClr val="000000"/>
                </a:solidFill>
                <a:latin typeface="Cabin"/>
                <a:ea typeface="Cabin"/>
                <a:cs typeface="Cabin"/>
                <a:sym typeface="Cabin"/>
              </a:rPr>
              <a:t>STM32F411CEU6</a:t>
            </a:r>
          </a:p>
          <a:p>
            <a:pPr algn="l">
              <a:lnSpc>
                <a:spcPts val="3750"/>
              </a:lnSpc>
            </a:pPr>
            <a:r>
              <a:rPr lang="en-US" sz="2500" spc="50">
                <a:solidFill>
                  <a:srgbClr val="000000"/>
                </a:solidFill>
                <a:latin typeface="Cabin"/>
                <a:ea typeface="Cabin"/>
                <a:cs typeface="Cabin"/>
                <a:sym typeface="Cabin"/>
              </a:rPr>
              <a:t>LoRa E22</a:t>
            </a:r>
          </a:p>
          <a:p>
            <a:pPr algn="l">
              <a:lnSpc>
                <a:spcPts val="3750"/>
              </a:lnSpc>
            </a:pPr>
            <a:r>
              <a:rPr lang="en-US" sz="2500" spc="50">
                <a:solidFill>
                  <a:srgbClr val="000000"/>
                </a:solidFill>
                <a:latin typeface="Cabin"/>
                <a:ea typeface="Cabin"/>
                <a:cs typeface="Cabin"/>
                <a:sym typeface="Cabin"/>
              </a:rPr>
              <a:t>ICM20948</a:t>
            </a:r>
          </a:p>
          <a:p>
            <a:pPr algn="l">
              <a:lnSpc>
                <a:spcPts val="3750"/>
              </a:lnSpc>
            </a:pPr>
            <a:r>
              <a:rPr lang="en-US" sz="2500" spc="50">
                <a:solidFill>
                  <a:srgbClr val="000000"/>
                </a:solidFill>
                <a:latin typeface="Cabin"/>
                <a:ea typeface="Cabin"/>
                <a:cs typeface="Cabin"/>
                <a:sym typeface="Cabin"/>
              </a:rPr>
              <a:t>Module nguồn buck</a:t>
            </a:r>
          </a:p>
          <a:p>
            <a:pPr algn="l">
              <a:lnSpc>
                <a:spcPts val="3750"/>
              </a:lnSpc>
            </a:pPr>
          </a:p>
        </p:txBody>
      </p:sp>
      <p:sp>
        <p:nvSpPr>
          <p:cNvPr name="TextBox 8" id="8"/>
          <p:cNvSpPr txBox="true"/>
          <p:nvPr/>
        </p:nvSpPr>
        <p:spPr>
          <a:xfrm rot="0">
            <a:off x="13101767" y="6505575"/>
            <a:ext cx="4584791" cy="3305175"/>
          </a:xfrm>
          <a:prstGeom prst="rect">
            <a:avLst/>
          </a:prstGeom>
        </p:spPr>
        <p:txBody>
          <a:bodyPr anchor="t" rtlCol="false" tIns="0" lIns="0" bIns="0" rIns="0">
            <a:spAutoFit/>
          </a:bodyPr>
          <a:lstStyle/>
          <a:p>
            <a:pPr algn="l">
              <a:lnSpc>
                <a:spcPts val="3750"/>
              </a:lnSpc>
            </a:pPr>
          </a:p>
          <a:p>
            <a:pPr algn="l">
              <a:lnSpc>
                <a:spcPts val="3750"/>
              </a:lnSpc>
            </a:pPr>
            <a:r>
              <a:rPr lang="en-US" sz="2500" spc="50">
                <a:solidFill>
                  <a:srgbClr val="000000"/>
                </a:solidFill>
                <a:latin typeface="Cabin"/>
                <a:ea typeface="Cabin"/>
                <a:cs typeface="Cabin"/>
                <a:sym typeface="Cabin"/>
              </a:rPr>
              <a:t>3.3. Tay điều khiển tự phát triển: </a:t>
            </a:r>
          </a:p>
          <a:p>
            <a:pPr algn="l">
              <a:lnSpc>
                <a:spcPts val="3750"/>
              </a:lnSpc>
            </a:pPr>
            <a:r>
              <a:rPr lang="en-US" sz="2500" spc="50">
                <a:solidFill>
                  <a:srgbClr val="000000"/>
                </a:solidFill>
                <a:latin typeface="Cabin"/>
                <a:ea typeface="Cabin"/>
                <a:cs typeface="Cabin"/>
                <a:sym typeface="Cabin"/>
              </a:rPr>
              <a:t>ESP32 </a:t>
            </a:r>
          </a:p>
          <a:p>
            <a:pPr algn="l">
              <a:lnSpc>
                <a:spcPts val="3750"/>
              </a:lnSpc>
            </a:pPr>
            <a:r>
              <a:rPr lang="en-US" sz="2500" spc="50">
                <a:solidFill>
                  <a:srgbClr val="000000"/>
                </a:solidFill>
                <a:latin typeface="Cabin"/>
                <a:ea typeface="Cabin"/>
                <a:cs typeface="Cabin"/>
                <a:sym typeface="Cabin"/>
              </a:rPr>
              <a:t>LoRa E22</a:t>
            </a:r>
          </a:p>
          <a:p>
            <a:pPr algn="l">
              <a:lnSpc>
                <a:spcPts val="3750"/>
              </a:lnSpc>
            </a:pPr>
            <a:r>
              <a:rPr lang="en-US" sz="2500" spc="50">
                <a:solidFill>
                  <a:srgbClr val="000000"/>
                </a:solidFill>
                <a:latin typeface="Cabin"/>
                <a:ea typeface="Cabin"/>
                <a:cs typeface="Cabin"/>
                <a:sym typeface="Cabin"/>
              </a:rPr>
              <a:t>Joysticks</a:t>
            </a:r>
          </a:p>
          <a:p>
            <a:pPr algn="l">
              <a:lnSpc>
                <a:spcPts val="3750"/>
              </a:lnSpc>
            </a:pPr>
            <a:r>
              <a:rPr lang="en-US" sz="2500" spc="50">
                <a:solidFill>
                  <a:srgbClr val="000000"/>
                </a:solidFill>
                <a:latin typeface="Cabin"/>
                <a:ea typeface="Cabin"/>
                <a:cs typeface="Cabin"/>
                <a:sym typeface="Cabin"/>
              </a:rPr>
              <a:t>Module nguồn buck</a:t>
            </a:r>
          </a:p>
          <a:p>
            <a:pPr algn="l">
              <a:lnSpc>
                <a:spcPts val="3750"/>
              </a:lnSpc>
            </a:pPr>
          </a:p>
        </p:txBody>
      </p:sp>
      <p:sp>
        <p:nvSpPr>
          <p:cNvPr name="TextBox 9" id="9"/>
          <p:cNvSpPr txBox="true"/>
          <p:nvPr/>
        </p:nvSpPr>
        <p:spPr>
          <a:xfrm rot="0">
            <a:off x="593619" y="6457950"/>
            <a:ext cx="4623792" cy="3781425"/>
          </a:xfrm>
          <a:prstGeom prst="rect">
            <a:avLst/>
          </a:prstGeom>
        </p:spPr>
        <p:txBody>
          <a:bodyPr anchor="t" rtlCol="false" tIns="0" lIns="0" bIns="0" rIns="0">
            <a:spAutoFit/>
          </a:bodyPr>
          <a:lstStyle/>
          <a:p>
            <a:pPr algn="l">
              <a:lnSpc>
                <a:spcPts val="3750"/>
              </a:lnSpc>
            </a:pPr>
          </a:p>
          <a:p>
            <a:pPr algn="l">
              <a:lnSpc>
                <a:spcPts val="3750"/>
              </a:lnSpc>
            </a:pPr>
            <a:r>
              <a:rPr lang="en-US" sz="2500" spc="50">
                <a:solidFill>
                  <a:srgbClr val="000000"/>
                </a:solidFill>
                <a:latin typeface="Cabin"/>
                <a:ea typeface="Cabin"/>
                <a:cs typeface="Cabin"/>
                <a:sym typeface="Cabin"/>
              </a:rPr>
              <a:t>3.1. Drone: </a:t>
            </a:r>
          </a:p>
          <a:p>
            <a:pPr algn="l">
              <a:lnSpc>
                <a:spcPts val="3750"/>
              </a:lnSpc>
            </a:pPr>
            <a:r>
              <a:rPr lang="en-US" sz="2500" spc="50">
                <a:solidFill>
                  <a:srgbClr val="000000"/>
                </a:solidFill>
                <a:latin typeface="Cabin"/>
                <a:ea typeface="Cabin"/>
                <a:cs typeface="Cabin"/>
                <a:sym typeface="Cabin"/>
              </a:rPr>
              <a:t>Khung F450</a:t>
            </a:r>
          </a:p>
          <a:p>
            <a:pPr algn="l">
              <a:lnSpc>
                <a:spcPts val="3750"/>
              </a:lnSpc>
            </a:pPr>
            <a:r>
              <a:rPr lang="en-US" sz="2500" spc="50">
                <a:solidFill>
                  <a:srgbClr val="000000"/>
                </a:solidFill>
                <a:latin typeface="Cabin"/>
                <a:ea typeface="Cabin"/>
                <a:cs typeface="Cabin"/>
                <a:sym typeface="Cabin"/>
              </a:rPr>
              <a:t>Motor 3115 900KV X4</a:t>
            </a:r>
          </a:p>
          <a:p>
            <a:pPr algn="l">
              <a:lnSpc>
                <a:spcPts val="3750"/>
              </a:lnSpc>
            </a:pPr>
            <a:r>
              <a:rPr lang="en-US" sz="2500" spc="50">
                <a:solidFill>
                  <a:srgbClr val="000000"/>
                </a:solidFill>
                <a:latin typeface="Cabin"/>
                <a:ea typeface="Cabin"/>
                <a:cs typeface="Cabin"/>
                <a:sym typeface="Cabin"/>
              </a:rPr>
              <a:t>ESC 4-in-1 65A</a:t>
            </a:r>
          </a:p>
          <a:p>
            <a:pPr algn="l">
              <a:lnSpc>
                <a:spcPts val="3750"/>
              </a:lnSpc>
            </a:pPr>
            <a:r>
              <a:rPr lang="en-US" sz="2500" spc="50">
                <a:solidFill>
                  <a:srgbClr val="000000"/>
                </a:solidFill>
                <a:latin typeface="Cabin"/>
                <a:ea typeface="Cabin"/>
                <a:cs typeface="Cabin"/>
                <a:sym typeface="Cabin"/>
              </a:rPr>
              <a:t>Cánh 9045</a:t>
            </a:r>
          </a:p>
          <a:p>
            <a:pPr algn="l">
              <a:lnSpc>
                <a:spcPts val="3750"/>
              </a:lnSpc>
            </a:pPr>
            <a:r>
              <a:rPr lang="en-US" sz="2500" spc="50">
                <a:solidFill>
                  <a:srgbClr val="000000"/>
                </a:solidFill>
                <a:latin typeface="Cabin"/>
                <a:ea typeface="Cabin"/>
                <a:cs typeface="Cabin"/>
                <a:sym typeface="Cabin"/>
              </a:rPr>
              <a:t>Pin Li-ion 6S2P</a:t>
            </a:r>
          </a:p>
          <a:p>
            <a:pPr algn="l">
              <a:lnSpc>
                <a:spcPts val="3750"/>
              </a:lnSpc>
            </a:pPr>
          </a:p>
        </p:txBody>
      </p:sp>
      <p:sp>
        <p:nvSpPr>
          <p:cNvPr name="AutoShape 10" id="10"/>
          <p:cNvSpPr/>
          <p:nvPr/>
        </p:nvSpPr>
        <p:spPr>
          <a:xfrm>
            <a:off x="12315749" y="1789867"/>
            <a:ext cx="0" cy="7468433"/>
          </a:xfrm>
          <a:prstGeom prst="line">
            <a:avLst/>
          </a:prstGeom>
          <a:ln cap="flat" w="28575">
            <a:solidFill>
              <a:srgbClr val="000000"/>
            </a:solidFill>
            <a:prstDash val="solid"/>
            <a:headEnd type="none" len="sm" w="sm"/>
            <a:tailEnd type="none" len="sm" w="sm"/>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13778" y="1861262"/>
            <a:ext cx="17660444" cy="7670874"/>
          </a:xfrm>
          <a:custGeom>
            <a:avLst/>
            <a:gdLst/>
            <a:ahLst/>
            <a:cxnLst/>
            <a:rect r="r" b="b" t="t" l="l"/>
            <a:pathLst>
              <a:path h="7670874" w="17660444">
                <a:moveTo>
                  <a:pt x="0" y="0"/>
                </a:moveTo>
                <a:lnTo>
                  <a:pt x="17660444" y="0"/>
                </a:lnTo>
                <a:lnTo>
                  <a:pt x="17660444" y="7670874"/>
                </a:lnTo>
                <a:lnTo>
                  <a:pt x="0" y="7670874"/>
                </a:lnTo>
                <a:lnTo>
                  <a:pt x="0" y="0"/>
                </a:lnTo>
                <a:close/>
              </a:path>
            </a:pathLst>
          </a:custGeom>
          <a:blipFill>
            <a:blip r:embed="rId2"/>
            <a:stretch>
              <a:fillRect l="0" t="0" r="0" b="0"/>
            </a:stretch>
          </a:blipFill>
        </p:spPr>
      </p:sp>
      <p:sp>
        <p:nvSpPr>
          <p:cNvPr name="TextBox 3" id="3"/>
          <p:cNvSpPr txBox="true"/>
          <p:nvPr/>
        </p:nvSpPr>
        <p:spPr>
          <a:xfrm rot="0">
            <a:off x="5163994" y="345820"/>
            <a:ext cx="7960011" cy="745363"/>
          </a:xfrm>
          <a:prstGeom prst="rect">
            <a:avLst/>
          </a:prstGeom>
        </p:spPr>
        <p:txBody>
          <a:bodyPr anchor="t" rtlCol="false" tIns="0" lIns="0" bIns="0" rIns="0">
            <a:spAutoFit/>
          </a:bodyPr>
          <a:lstStyle/>
          <a:p>
            <a:pPr algn="ctr" marL="0" indent="0" lvl="0">
              <a:lnSpc>
                <a:spcPts val="6025"/>
              </a:lnSpc>
              <a:spcBef>
                <a:spcPct val="0"/>
              </a:spcBef>
            </a:pPr>
            <a:r>
              <a:rPr lang="en-US" b="true" sz="4599" spc="137">
                <a:solidFill>
                  <a:srgbClr val="000000"/>
                </a:solidFill>
                <a:latin typeface="Cabin Bold"/>
                <a:ea typeface="Cabin Bold"/>
                <a:cs typeface="Cabin Bold"/>
                <a:sym typeface="Cabin Bold"/>
              </a:rPr>
              <a:t>4. SƠ ĐỒ KHỐI PHẦN CỨNG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9144000" y="2230603"/>
            <a:ext cx="0" cy="7719217"/>
          </a:xfrm>
          <a:prstGeom prst="line">
            <a:avLst/>
          </a:prstGeom>
          <a:ln cap="flat" w="28575">
            <a:solidFill>
              <a:srgbClr val="000000"/>
            </a:solidFill>
            <a:prstDash val="solid"/>
            <a:headEnd type="none" len="sm" w="sm"/>
            <a:tailEnd type="none" len="sm" w="sm"/>
          </a:ln>
        </p:spPr>
      </p:sp>
      <p:sp>
        <p:nvSpPr>
          <p:cNvPr name="Freeform 3" id="3"/>
          <p:cNvSpPr/>
          <p:nvPr/>
        </p:nvSpPr>
        <p:spPr>
          <a:xfrm flipH="false" flipV="false" rot="0">
            <a:off x="10902288" y="2230603"/>
            <a:ext cx="4620624" cy="5965595"/>
          </a:xfrm>
          <a:custGeom>
            <a:avLst/>
            <a:gdLst/>
            <a:ahLst/>
            <a:cxnLst/>
            <a:rect r="r" b="b" t="t" l="l"/>
            <a:pathLst>
              <a:path h="5965595" w="4620624">
                <a:moveTo>
                  <a:pt x="0" y="0"/>
                </a:moveTo>
                <a:lnTo>
                  <a:pt x="4620625" y="0"/>
                </a:lnTo>
                <a:lnTo>
                  <a:pt x="4620625" y="5965595"/>
                </a:lnTo>
                <a:lnTo>
                  <a:pt x="0" y="5965595"/>
                </a:lnTo>
                <a:lnTo>
                  <a:pt x="0" y="0"/>
                </a:lnTo>
                <a:close/>
              </a:path>
            </a:pathLst>
          </a:custGeom>
          <a:blipFill>
            <a:blip r:embed="rId2"/>
            <a:stretch>
              <a:fillRect l="0" t="0" r="0" b="0"/>
            </a:stretch>
          </a:blipFill>
        </p:spPr>
      </p:sp>
      <p:sp>
        <p:nvSpPr>
          <p:cNvPr name="Freeform 4" id="4"/>
          <p:cNvSpPr/>
          <p:nvPr/>
        </p:nvSpPr>
        <p:spPr>
          <a:xfrm flipH="false" flipV="false" rot="0">
            <a:off x="2599142" y="2230603"/>
            <a:ext cx="3557744" cy="7311927"/>
          </a:xfrm>
          <a:custGeom>
            <a:avLst/>
            <a:gdLst/>
            <a:ahLst/>
            <a:cxnLst/>
            <a:rect r="r" b="b" t="t" l="l"/>
            <a:pathLst>
              <a:path h="7311927" w="3557744">
                <a:moveTo>
                  <a:pt x="0" y="0"/>
                </a:moveTo>
                <a:lnTo>
                  <a:pt x="3557744" y="0"/>
                </a:lnTo>
                <a:lnTo>
                  <a:pt x="3557744" y="7311927"/>
                </a:lnTo>
                <a:lnTo>
                  <a:pt x="0" y="7311927"/>
                </a:lnTo>
                <a:lnTo>
                  <a:pt x="0" y="0"/>
                </a:lnTo>
                <a:close/>
              </a:path>
            </a:pathLst>
          </a:custGeom>
          <a:blipFill>
            <a:blip r:embed="rId3"/>
            <a:stretch>
              <a:fillRect l="0" t="0" r="0" b="0"/>
            </a:stretch>
          </a:blipFill>
        </p:spPr>
      </p:sp>
      <p:sp>
        <p:nvSpPr>
          <p:cNvPr name="TextBox 5" id="5"/>
          <p:cNvSpPr txBox="true"/>
          <p:nvPr/>
        </p:nvSpPr>
        <p:spPr>
          <a:xfrm rot="0">
            <a:off x="3588732" y="378211"/>
            <a:ext cx="11157034" cy="718185"/>
          </a:xfrm>
          <a:prstGeom prst="rect">
            <a:avLst/>
          </a:prstGeom>
        </p:spPr>
        <p:txBody>
          <a:bodyPr anchor="t" rtlCol="false" tIns="0" lIns="0" bIns="0" rIns="0">
            <a:spAutoFit/>
          </a:bodyPr>
          <a:lstStyle/>
          <a:p>
            <a:pPr algn="ctr" marL="0" indent="0" lvl="0">
              <a:lnSpc>
                <a:spcPts val="5894"/>
              </a:lnSpc>
              <a:spcBef>
                <a:spcPct val="0"/>
              </a:spcBef>
            </a:pPr>
            <a:r>
              <a:rPr lang="en-US" b="true" sz="4499" spc="134">
                <a:solidFill>
                  <a:srgbClr val="000000"/>
                </a:solidFill>
                <a:latin typeface="Cabin Bold"/>
                <a:ea typeface="Cabin Bold"/>
                <a:cs typeface="Cabin Bold"/>
                <a:sym typeface="Cabin Bold"/>
              </a:rPr>
              <a:t>5. KIẾN TRÚC FIRMWARE</a:t>
            </a:r>
          </a:p>
        </p:txBody>
      </p:sp>
      <p:sp>
        <p:nvSpPr>
          <p:cNvPr name="TextBox 6" id="6"/>
          <p:cNvSpPr txBox="true"/>
          <p:nvPr/>
        </p:nvSpPr>
        <p:spPr>
          <a:xfrm rot="0">
            <a:off x="479430" y="1369844"/>
            <a:ext cx="5677456" cy="552449"/>
          </a:xfrm>
          <a:prstGeom prst="rect">
            <a:avLst/>
          </a:prstGeom>
        </p:spPr>
        <p:txBody>
          <a:bodyPr anchor="t" rtlCol="false" tIns="0" lIns="0" bIns="0" rIns="0">
            <a:spAutoFit/>
          </a:bodyPr>
          <a:lstStyle/>
          <a:p>
            <a:pPr algn="l">
              <a:lnSpc>
                <a:spcPts val="4500"/>
              </a:lnSpc>
            </a:pPr>
            <a:r>
              <a:rPr lang="en-US" sz="3000" spc="60" b="true">
                <a:solidFill>
                  <a:srgbClr val="000000"/>
                </a:solidFill>
                <a:latin typeface="Cabin Bold"/>
                <a:ea typeface="Cabin Bold"/>
                <a:cs typeface="Cabin Bold"/>
                <a:sym typeface="Cabin Bold"/>
              </a:rPr>
              <a:t>ESP32 - Tay cầm điều khiển:</a:t>
            </a:r>
          </a:p>
        </p:txBody>
      </p:sp>
      <p:sp>
        <p:nvSpPr>
          <p:cNvPr name="TextBox 7" id="7"/>
          <p:cNvSpPr txBox="true"/>
          <p:nvPr/>
        </p:nvSpPr>
        <p:spPr>
          <a:xfrm rot="0">
            <a:off x="9570443" y="1369844"/>
            <a:ext cx="5677456" cy="552449"/>
          </a:xfrm>
          <a:prstGeom prst="rect">
            <a:avLst/>
          </a:prstGeom>
        </p:spPr>
        <p:txBody>
          <a:bodyPr anchor="t" rtlCol="false" tIns="0" lIns="0" bIns="0" rIns="0">
            <a:spAutoFit/>
          </a:bodyPr>
          <a:lstStyle/>
          <a:p>
            <a:pPr algn="l">
              <a:lnSpc>
                <a:spcPts val="4500"/>
              </a:lnSpc>
            </a:pPr>
            <a:r>
              <a:rPr lang="en-US" sz="3000" spc="60" b="true">
                <a:solidFill>
                  <a:srgbClr val="000000"/>
                </a:solidFill>
                <a:latin typeface="Cabin Bold"/>
                <a:ea typeface="Cabin Bold"/>
                <a:cs typeface="Cabin Bold"/>
                <a:sym typeface="Cabin Bold"/>
              </a:rPr>
              <a:t>STM32 - Flight controller:</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2603638" y="6247298"/>
          <a:ext cx="13078539" cy="3209925"/>
        </p:xfrm>
        <a:graphic>
          <a:graphicData uri="http://schemas.openxmlformats.org/drawingml/2006/table">
            <a:tbl>
              <a:tblPr/>
              <a:tblGrid>
                <a:gridCol w="3046062"/>
                <a:gridCol w="3111498"/>
                <a:gridCol w="3307806"/>
                <a:gridCol w="3613174"/>
              </a:tblGrid>
              <a:tr h="1069975">
                <a:tc>
                  <a:txBody>
                    <a:bodyPr anchor="t" rtlCol="false"/>
                    <a:lstStyle/>
                    <a:p>
                      <a:pPr algn="ctr">
                        <a:lnSpc>
                          <a:spcPts val="4200"/>
                        </a:lnSpc>
                        <a:defRPr/>
                      </a:pPr>
                      <a:r>
                        <a:rPr lang="en-US" sz="3000" b="true">
                          <a:solidFill>
                            <a:srgbClr val="000000"/>
                          </a:solidFill>
                          <a:latin typeface="Cabin Bold"/>
                          <a:ea typeface="Cabin Bold"/>
                          <a:cs typeface="Cabin Bold"/>
                          <a:sym typeface="Cabin Bold"/>
                        </a:rPr>
                        <a:t>Vòng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Cabin"/>
                          <a:ea typeface="Cabin"/>
                          <a:cs typeface="Cabin"/>
                          <a:sym typeface="Cabin"/>
                        </a:rPr>
                        <a:t>K</a:t>
                      </a:r>
                      <a:r>
                        <a:rPr lang="en-US" sz="3000">
                          <a:solidFill>
                            <a:srgbClr val="000000"/>
                          </a:solidFill>
                          <a:latin typeface="Cabin"/>
                          <a:ea typeface="Cabin"/>
                          <a:cs typeface="Cabin"/>
                          <a:sym typeface="Cabin"/>
                        </a:rPr>
                        <a:t>p</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b="true">
                          <a:solidFill>
                            <a:srgbClr val="000000"/>
                          </a:solidFill>
                          <a:latin typeface="Cabin Bold"/>
                          <a:ea typeface="Cabin Bold"/>
                          <a:cs typeface="Cabin Bold"/>
                          <a:sym typeface="Cabin Bold"/>
                        </a:rPr>
                        <a:t>Kd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b="true">
                          <a:solidFill>
                            <a:srgbClr val="000000"/>
                          </a:solidFill>
                          <a:latin typeface="Cabin Bold"/>
                          <a:ea typeface="Cabin Bold"/>
                          <a:cs typeface="Cabin Bold"/>
                          <a:sym typeface="Cabin Bold"/>
                        </a:rPr>
                        <a:t>Ki</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69975">
                <a:tc>
                  <a:txBody>
                    <a:bodyPr anchor="t" rtlCol="false"/>
                    <a:lstStyle/>
                    <a:p>
                      <a:pPr algn="ctr">
                        <a:lnSpc>
                          <a:spcPts val="4200"/>
                        </a:lnSpc>
                        <a:defRPr/>
                      </a:pPr>
                      <a:r>
                        <a:rPr lang="en-US" sz="3000">
                          <a:solidFill>
                            <a:srgbClr val="000000"/>
                          </a:solidFill>
                          <a:latin typeface="Cabin"/>
                          <a:ea typeface="Cabin"/>
                          <a:cs typeface="Cabin"/>
                          <a:sym typeface="Cabin"/>
                        </a:rPr>
                        <a:t>Góc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Cabin"/>
                          <a:ea typeface="Cabin"/>
                          <a:cs typeface="Cabin"/>
                          <a:sym typeface="Cabin"/>
                        </a:rPr>
                        <a:t>6.0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Cabin"/>
                          <a:ea typeface="Cabin"/>
                          <a:cs typeface="Cabin"/>
                          <a:sym typeface="Cabin"/>
                        </a:rPr>
                        <a:t>0</a:t>
                      </a:r>
                      <a:r>
                        <a:rPr lang="en-US" sz="3000">
                          <a:solidFill>
                            <a:srgbClr val="000000"/>
                          </a:solidFill>
                          <a:latin typeface="Cabin"/>
                          <a:ea typeface="Cabin"/>
                          <a:cs typeface="Cabin"/>
                          <a:sym typeface="Cabin"/>
                        </a:rPr>
                        <a:t>.0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Cabin"/>
                          <a:ea typeface="Cabin"/>
                          <a:cs typeface="Cabin"/>
                          <a:sym typeface="Cabin"/>
                        </a:rPr>
                        <a:t>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69975">
                <a:tc>
                  <a:txBody>
                    <a:bodyPr anchor="t" rtlCol="false"/>
                    <a:lstStyle/>
                    <a:p>
                      <a:pPr algn="ctr">
                        <a:lnSpc>
                          <a:spcPts val="4200"/>
                        </a:lnSpc>
                        <a:defRPr/>
                      </a:pPr>
                      <a:r>
                        <a:rPr lang="en-US" sz="3000">
                          <a:solidFill>
                            <a:srgbClr val="000000"/>
                          </a:solidFill>
                          <a:latin typeface="Cabin"/>
                          <a:ea typeface="Cabin"/>
                          <a:cs typeface="Cabin"/>
                          <a:sym typeface="Cabin"/>
                        </a:rPr>
                        <a:t>Rate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Cabin"/>
                          <a:ea typeface="Cabin"/>
                          <a:cs typeface="Cabin"/>
                          <a:sym typeface="Cabin"/>
                        </a:rPr>
                        <a:t>1.4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Cabin"/>
                          <a:ea typeface="Cabin"/>
                          <a:cs typeface="Cabin"/>
                          <a:sym typeface="Cabin"/>
                        </a:rPr>
                        <a:t>0.001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Cabin"/>
                          <a:ea typeface="Cabin"/>
                          <a:cs typeface="Cabin"/>
                          <a:sym typeface="Cabin"/>
                        </a:rPr>
                        <a:t>0.1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Freeform 3" id="3"/>
          <p:cNvSpPr/>
          <p:nvPr/>
        </p:nvSpPr>
        <p:spPr>
          <a:xfrm flipH="false" flipV="false" rot="0">
            <a:off x="410729" y="1677841"/>
            <a:ext cx="17439049" cy="4153218"/>
          </a:xfrm>
          <a:custGeom>
            <a:avLst/>
            <a:gdLst/>
            <a:ahLst/>
            <a:cxnLst/>
            <a:rect r="r" b="b" t="t" l="l"/>
            <a:pathLst>
              <a:path h="4153218" w="17439049">
                <a:moveTo>
                  <a:pt x="0" y="0"/>
                </a:moveTo>
                <a:lnTo>
                  <a:pt x="17439048" y="0"/>
                </a:lnTo>
                <a:lnTo>
                  <a:pt x="17439048" y="4153218"/>
                </a:lnTo>
                <a:lnTo>
                  <a:pt x="0" y="4153218"/>
                </a:lnTo>
                <a:lnTo>
                  <a:pt x="0" y="0"/>
                </a:lnTo>
                <a:close/>
              </a:path>
            </a:pathLst>
          </a:custGeom>
          <a:blipFill>
            <a:blip r:embed="rId2"/>
            <a:stretch>
              <a:fillRect l="0" t="0" r="0" b="0"/>
            </a:stretch>
          </a:blipFill>
        </p:spPr>
      </p:sp>
      <p:sp>
        <p:nvSpPr>
          <p:cNvPr name="TextBox 4" id="4"/>
          <p:cNvSpPr txBox="true"/>
          <p:nvPr/>
        </p:nvSpPr>
        <p:spPr>
          <a:xfrm rot="0">
            <a:off x="3565483" y="310515"/>
            <a:ext cx="11157034" cy="718185"/>
          </a:xfrm>
          <a:prstGeom prst="rect">
            <a:avLst/>
          </a:prstGeom>
        </p:spPr>
        <p:txBody>
          <a:bodyPr anchor="t" rtlCol="false" tIns="0" lIns="0" bIns="0" rIns="0">
            <a:spAutoFit/>
          </a:bodyPr>
          <a:lstStyle/>
          <a:p>
            <a:pPr algn="ctr" marL="0" indent="0" lvl="0">
              <a:lnSpc>
                <a:spcPts val="5894"/>
              </a:lnSpc>
              <a:spcBef>
                <a:spcPct val="0"/>
              </a:spcBef>
            </a:pPr>
            <a:r>
              <a:rPr lang="en-US" b="true" sz="4499" spc="134">
                <a:solidFill>
                  <a:srgbClr val="000000"/>
                </a:solidFill>
                <a:latin typeface="Cabin Bold"/>
                <a:ea typeface="Cabin Bold"/>
                <a:cs typeface="Cabin Bold"/>
                <a:sym typeface="Cabin Bold"/>
              </a:rPr>
              <a:t>6. THUẬT TOÁN CASCADE PID</a:t>
            </a:r>
          </a:p>
        </p:txBody>
      </p:sp>
      <p:sp>
        <p:nvSpPr>
          <p:cNvPr name="TextBox 5" id="5"/>
          <p:cNvSpPr txBox="true"/>
          <p:nvPr/>
        </p:nvSpPr>
        <p:spPr>
          <a:xfrm rot="0">
            <a:off x="544675" y="1039666"/>
            <a:ext cx="4655279" cy="638175"/>
          </a:xfrm>
          <a:prstGeom prst="rect">
            <a:avLst/>
          </a:prstGeom>
        </p:spPr>
        <p:txBody>
          <a:bodyPr anchor="t" rtlCol="false" tIns="0" lIns="0" bIns="0" rIns="0">
            <a:spAutoFit/>
          </a:bodyPr>
          <a:lstStyle/>
          <a:p>
            <a:pPr algn="l">
              <a:lnSpc>
                <a:spcPts val="5250"/>
              </a:lnSpc>
            </a:pPr>
            <a:r>
              <a:rPr lang="en-US" sz="3500" spc="70" b="true">
                <a:solidFill>
                  <a:srgbClr val="000000"/>
                </a:solidFill>
                <a:latin typeface="Cabin Bold"/>
                <a:ea typeface="Cabin Bold"/>
                <a:cs typeface="Cabin Bold"/>
                <a:sym typeface="Cabin Bold"/>
              </a:rPr>
              <a:t>Cấu trúc Cascade PID:</a:t>
            </a:r>
          </a:p>
        </p:txBody>
      </p:sp>
      <p:sp>
        <p:nvSpPr>
          <p:cNvPr name="TextBox 6" id="6"/>
          <p:cNvSpPr txBox="true"/>
          <p:nvPr/>
        </p:nvSpPr>
        <p:spPr>
          <a:xfrm rot="0">
            <a:off x="696914" y="5609123"/>
            <a:ext cx="2341693" cy="638175"/>
          </a:xfrm>
          <a:prstGeom prst="rect">
            <a:avLst/>
          </a:prstGeom>
        </p:spPr>
        <p:txBody>
          <a:bodyPr anchor="t" rtlCol="false" tIns="0" lIns="0" bIns="0" rIns="0">
            <a:spAutoFit/>
          </a:bodyPr>
          <a:lstStyle/>
          <a:p>
            <a:pPr algn="l">
              <a:lnSpc>
                <a:spcPts val="5250"/>
              </a:lnSpc>
            </a:pPr>
            <a:r>
              <a:rPr lang="en-US" sz="3500" spc="70" b="true">
                <a:solidFill>
                  <a:srgbClr val="000000"/>
                </a:solidFill>
                <a:latin typeface="Cabin Bold"/>
                <a:ea typeface="Cabin Bold"/>
                <a:cs typeface="Cabin Bold"/>
                <a:sym typeface="Cabin Bold"/>
              </a:rPr>
              <a:t>Bảng gain:</a:t>
            </a:r>
          </a:p>
        </p:txBody>
      </p:sp>
      <p:sp>
        <p:nvSpPr>
          <p:cNvPr name="TextBox 7" id="7"/>
          <p:cNvSpPr txBox="true"/>
          <p:nvPr/>
        </p:nvSpPr>
        <p:spPr>
          <a:xfrm rot="0">
            <a:off x="2603638" y="9521039"/>
            <a:ext cx="5989439" cy="438150"/>
          </a:xfrm>
          <a:prstGeom prst="rect">
            <a:avLst/>
          </a:prstGeom>
        </p:spPr>
        <p:txBody>
          <a:bodyPr anchor="t" rtlCol="false" tIns="0" lIns="0" bIns="0" rIns="0">
            <a:spAutoFit/>
          </a:bodyPr>
          <a:lstStyle/>
          <a:p>
            <a:pPr algn="ctr">
              <a:lnSpc>
                <a:spcPts val="3749"/>
              </a:lnSpc>
              <a:spcBef>
                <a:spcPct val="0"/>
              </a:spcBef>
            </a:pPr>
            <a:r>
              <a:rPr lang="en-US" sz="2499" i="true" spc="49">
                <a:solidFill>
                  <a:srgbClr val="000000"/>
                </a:solidFill>
                <a:latin typeface="Cabin Italics"/>
                <a:ea typeface="Cabin Italics"/>
                <a:cs typeface="Cabin Italics"/>
                <a:sym typeface="Cabin Italics"/>
              </a:rPr>
              <a:t>*</a:t>
            </a:r>
            <a:r>
              <a:rPr lang="en-US" sz="2499" i="true" spc="49">
                <a:solidFill>
                  <a:srgbClr val="000000"/>
                </a:solidFill>
                <a:latin typeface="Cabin Italics"/>
                <a:ea typeface="Cabin Italics"/>
                <a:cs typeface="Cabin Italics"/>
                <a:sym typeface="Cabin Italics"/>
              </a:rPr>
              <a:t>Các thông số đang trong quá trình tinh chỉnh</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1769533" y="1155621"/>
            <a:ext cx="14748933" cy="8296275"/>
          </a:xfrm>
          <a:prstGeom prst="rect">
            <a:avLst/>
          </a:prstGeom>
        </p:spPr>
      </p:pic>
      <p:sp>
        <p:nvSpPr>
          <p:cNvPr name="TextBox 3" id="3"/>
          <p:cNvSpPr txBox="true"/>
          <p:nvPr/>
        </p:nvSpPr>
        <p:spPr>
          <a:xfrm rot="0">
            <a:off x="3565483" y="310515"/>
            <a:ext cx="11157034" cy="718185"/>
          </a:xfrm>
          <a:prstGeom prst="rect">
            <a:avLst/>
          </a:prstGeom>
        </p:spPr>
        <p:txBody>
          <a:bodyPr anchor="t" rtlCol="false" tIns="0" lIns="0" bIns="0" rIns="0">
            <a:spAutoFit/>
          </a:bodyPr>
          <a:lstStyle/>
          <a:p>
            <a:pPr algn="ctr" marL="0" indent="0" lvl="0">
              <a:lnSpc>
                <a:spcPts val="5894"/>
              </a:lnSpc>
              <a:spcBef>
                <a:spcPct val="0"/>
              </a:spcBef>
            </a:pPr>
            <a:r>
              <a:rPr lang="en-US" b="true" sz="4499" spc="134">
                <a:solidFill>
                  <a:srgbClr val="000000"/>
                </a:solidFill>
                <a:latin typeface="Cabin Bold"/>
                <a:ea typeface="Cabin Bold"/>
                <a:cs typeface="Cabin Bold"/>
                <a:sym typeface="Cabin Bold"/>
              </a:rPr>
              <a:t> 7. QUÁ TRÌNH THỬ NGHIỆM  </a:t>
            </a:r>
          </a:p>
        </p:txBody>
      </p:sp>
      <p:sp>
        <p:nvSpPr>
          <p:cNvPr name="TextBox 4" id="4"/>
          <p:cNvSpPr txBox="true"/>
          <p:nvPr/>
        </p:nvSpPr>
        <p:spPr>
          <a:xfrm rot="0">
            <a:off x="2350763" y="9630887"/>
            <a:ext cx="15343506" cy="438784"/>
          </a:xfrm>
          <a:prstGeom prst="rect">
            <a:avLst/>
          </a:prstGeom>
        </p:spPr>
        <p:txBody>
          <a:bodyPr anchor="t" rtlCol="false" tIns="0" lIns="0" bIns="0" rIns="0">
            <a:spAutoFit/>
          </a:bodyPr>
          <a:lstStyle/>
          <a:p>
            <a:pPr algn="just">
              <a:lnSpc>
                <a:spcPts val="3640"/>
              </a:lnSpc>
            </a:pPr>
            <a:r>
              <a:rPr lang="en-US" sz="2600" spc="130">
                <a:solidFill>
                  <a:srgbClr val="000000"/>
                </a:solidFill>
                <a:latin typeface="Cabin"/>
                <a:ea typeface="Cabin"/>
                <a:cs typeface="Cabin"/>
                <a:sym typeface="Cabin"/>
              </a:rPr>
              <a:t>https://drive.google.com/file/d/1uL8YZlmOQAVLGoC8x9MWkH-D40T9RNpE/view?usp=drive_link</a:t>
            </a:r>
          </a:p>
        </p:txBody>
      </p:sp>
      <p:sp>
        <p:nvSpPr>
          <p:cNvPr name="TextBox 5" id="5"/>
          <p:cNvSpPr txBox="true"/>
          <p:nvPr/>
        </p:nvSpPr>
        <p:spPr>
          <a:xfrm rot="0">
            <a:off x="409159" y="9597867"/>
            <a:ext cx="1941604" cy="471804"/>
          </a:xfrm>
          <a:prstGeom prst="rect">
            <a:avLst/>
          </a:prstGeom>
        </p:spPr>
        <p:txBody>
          <a:bodyPr anchor="t" rtlCol="false" tIns="0" lIns="0" bIns="0" rIns="0">
            <a:spAutoFit/>
          </a:bodyPr>
          <a:lstStyle/>
          <a:p>
            <a:pPr algn="just">
              <a:lnSpc>
                <a:spcPts val="3920"/>
              </a:lnSpc>
            </a:pPr>
            <a:r>
              <a:rPr lang="en-US" sz="2800" spc="140">
                <a:solidFill>
                  <a:srgbClr val="000000"/>
                </a:solidFill>
                <a:latin typeface="Cabin"/>
                <a:ea typeface="Cabin"/>
                <a:cs typeface="Cabin"/>
                <a:sym typeface="Cabin"/>
              </a:rPr>
              <a:t>Link video:</a:t>
            </a:r>
          </a:p>
        </p:txBody>
      </p:sp>
    </p:spTree>
  </p:cSld>
  <p:clrMapOvr>
    <a:masterClrMapping/>
  </p:clrMapOvr>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065644" y="469468"/>
            <a:ext cx="12156711" cy="745363"/>
          </a:xfrm>
          <a:prstGeom prst="rect">
            <a:avLst/>
          </a:prstGeom>
        </p:spPr>
        <p:txBody>
          <a:bodyPr anchor="t" rtlCol="false" tIns="0" lIns="0" bIns="0" rIns="0">
            <a:spAutoFit/>
          </a:bodyPr>
          <a:lstStyle/>
          <a:p>
            <a:pPr algn="ctr" marL="0" indent="0" lvl="0">
              <a:lnSpc>
                <a:spcPts val="6025"/>
              </a:lnSpc>
              <a:spcBef>
                <a:spcPct val="0"/>
              </a:spcBef>
            </a:pPr>
            <a:r>
              <a:rPr lang="en-US" b="true" sz="4599" spc="137">
                <a:solidFill>
                  <a:srgbClr val="000000"/>
                </a:solidFill>
                <a:latin typeface="Cabin Bold"/>
                <a:ea typeface="Cabin Bold"/>
                <a:cs typeface="Cabin Bold"/>
                <a:sym typeface="Cabin Bold"/>
              </a:rPr>
              <a:t>8. KHÓ KHĂN VÀ ĐỊNH HƯỚNG TIẾP THEO</a:t>
            </a:r>
          </a:p>
        </p:txBody>
      </p:sp>
      <p:sp>
        <p:nvSpPr>
          <p:cNvPr name="TextBox 3" id="3"/>
          <p:cNvSpPr txBox="true"/>
          <p:nvPr/>
        </p:nvSpPr>
        <p:spPr>
          <a:xfrm rot="0">
            <a:off x="1502876" y="5655945"/>
            <a:ext cx="5122791" cy="542925"/>
          </a:xfrm>
          <a:prstGeom prst="rect">
            <a:avLst/>
          </a:prstGeom>
        </p:spPr>
        <p:txBody>
          <a:bodyPr anchor="t" rtlCol="false" tIns="0" lIns="0" bIns="0" rIns="0">
            <a:spAutoFit/>
          </a:bodyPr>
          <a:lstStyle/>
          <a:p>
            <a:pPr algn="l" marL="0" indent="0" lvl="0">
              <a:lnSpc>
                <a:spcPts val="4200"/>
              </a:lnSpc>
            </a:pPr>
            <a:r>
              <a:rPr lang="en-US" b="true" sz="3500" spc="70">
                <a:solidFill>
                  <a:srgbClr val="000000"/>
                </a:solidFill>
                <a:latin typeface="Cabin Bold"/>
                <a:ea typeface="Cabin Bold"/>
                <a:cs typeface="Cabin Bold"/>
                <a:sym typeface="Cabin Bold"/>
              </a:rPr>
              <a:t>8.2 Định hướng đề xuất:</a:t>
            </a:r>
          </a:p>
        </p:txBody>
      </p:sp>
      <p:sp>
        <p:nvSpPr>
          <p:cNvPr name="TextBox 4" id="4"/>
          <p:cNvSpPr txBox="true"/>
          <p:nvPr/>
        </p:nvSpPr>
        <p:spPr>
          <a:xfrm rot="0">
            <a:off x="2172867" y="6408420"/>
            <a:ext cx="14612257" cy="3021330"/>
          </a:xfrm>
          <a:prstGeom prst="rect">
            <a:avLst/>
          </a:prstGeom>
        </p:spPr>
        <p:txBody>
          <a:bodyPr anchor="t" rtlCol="false" tIns="0" lIns="0" bIns="0" rIns="0">
            <a:spAutoFit/>
          </a:bodyPr>
          <a:lstStyle/>
          <a:p>
            <a:pPr algn="l">
              <a:lnSpc>
                <a:spcPts val="4800"/>
              </a:lnSpc>
            </a:pPr>
            <a:r>
              <a:rPr lang="en-US" sz="3200" spc="64">
                <a:solidFill>
                  <a:srgbClr val="000000"/>
                </a:solidFill>
                <a:latin typeface="Cabin"/>
                <a:ea typeface="Cabin"/>
                <a:cs typeface="Cabin"/>
                <a:sym typeface="Cabin"/>
              </a:rPr>
              <a:t>- Kiểm tra, cải thiện độ cứng vững của khung và giảm rung động cơ học.</a:t>
            </a:r>
          </a:p>
          <a:p>
            <a:pPr algn="l">
              <a:lnSpc>
                <a:spcPts val="4800"/>
              </a:lnSpc>
            </a:pPr>
            <a:r>
              <a:rPr lang="en-US" sz="3200" spc="64">
                <a:solidFill>
                  <a:srgbClr val="000000"/>
                </a:solidFill>
                <a:latin typeface="Cabin"/>
                <a:ea typeface="Cabin"/>
                <a:cs typeface="Cabin"/>
                <a:sym typeface="Cabin"/>
              </a:rPr>
              <a:t>- </a:t>
            </a:r>
            <a:r>
              <a:rPr lang="en-US" sz="3200" spc="64">
                <a:solidFill>
                  <a:srgbClr val="000000"/>
                </a:solidFill>
                <a:latin typeface="Cabin"/>
                <a:ea typeface="Cabin"/>
                <a:cs typeface="Cabin"/>
                <a:sym typeface="Cabin"/>
              </a:rPr>
              <a:t>Kiểm tra hoạt động của motor và ESC.</a:t>
            </a:r>
          </a:p>
          <a:p>
            <a:pPr algn="l">
              <a:lnSpc>
                <a:spcPts val="4800"/>
              </a:lnSpc>
            </a:pPr>
            <a:r>
              <a:rPr lang="en-US" sz="3200" spc="64">
                <a:solidFill>
                  <a:srgbClr val="000000"/>
                </a:solidFill>
                <a:latin typeface="Cabin"/>
                <a:ea typeface="Cabin"/>
                <a:cs typeface="Cabin"/>
                <a:sym typeface="Cabin"/>
              </a:rPr>
              <a:t>- </a:t>
            </a:r>
            <a:r>
              <a:rPr lang="en-US" sz="3200" spc="64">
                <a:solidFill>
                  <a:srgbClr val="000000"/>
                </a:solidFill>
                <a:latin typeface="Cabin"/>
                <a:ea typeface="Cabin"/>
                <a:cs typeface="Cabin"/>
                <a:sym typeface="Cabin"/>
              </a:rPr>
              <a:t>Tiếp tục tinh chỉnh Cascade PID và kiểm chứng độ ổn định.</a:t>
            </a:r>
          </a:p>
          <a:p>
            <a:pPr algn="l">
              <a:lnSpc>
                <a:spcPts val="4800"/>
              </a:lnSpc>
            </a:pPr>
            <a:r>
              <a:rPr lang="en-US" sz="3200" spc="64">
                <a:solidFill>
                  <a:srgbClr val="000000"/>
                </a:solidFill>
                <a:latin typeface="Cabin"/>
                <a:ea typeface="Cabin"/>
                <a:cs typeface="Cabin"/>
                <a:sym typeface="Cabin"/>
              </a:rPr>
              <a:t>- </a:t>
            </a:r>
            <a:r>
              <a:rPr lang="en-US" sz="3200" spc="64">
                <a:solidFill>
                  <a:srgbClr val="000000"/>
                </a:solidFill>
                <a:latin typeface="Cabin"/>
                <a:ea typeface="Cabin"/>
                <a:cs typeface="Cabin"/>
                <a:sym typeface="Cabin"/>
              </a:rPr>
              <a:t>Tiến tới thử nghiệm bay thực tế khi đáp ứng các điều kiện an toàn.</a:t>
            </a:r>
          </a:p>
          <a:p>
            <a:pPr algn="l">
              <a:lnSpc>
                <a:spcPts val="4800"/>
              </a:lnSpc>
            </a:pPr>
          </a:p>
        </p:txBody>
      </p:sp>
      <p:sp>
        <p:nvSpPr>
          <p:cNvPr name="TextBox 5" id="5"/>
          <p:cNvSpPr txBox="true"/>
          <p:nvPr/>
        </p:nvSpPr>
        <p:spPr>
          <a:xfrm rot="0">
            <a:off x="2172867" y="2769869"/>
            <a:ext cx="10912090" cy="2373631"/>
          </a:xfrm>
          <a:prstGeom prst="rect">
            <a:avLst/>
          </a:prstGeom>
        </p:spPr>
        <p:txBody>
          <a:bodyPr anchor="t" rtlCol="false" tIns="0" lIns="0" bIns="0" rIns="0">
            <a:spAutoFit/>
          </a:bodyPr>
          <a:lstStyle/>
          <a:p>
            <a:pPr algn="l">
              <a:lnSpc>
                <a:spcPts val="4799"/>
              </a:lnSpc>
            </a:pPr>
            <a:r>
              <a:rPr lang="en-US" sz="3199" spc="63">
                <a:solidFill>
                  <a:srgbClr val="000000"/>
                </a:solidFill>
                <a:latin typeface="Cabin"/>
                <a:ea typeface="Cabin"/>
                <a:cs typeface="Cabin"/>
                <a:sym typeface="Cabin"/>
              </a:rPr>
              <a:t>- Khung nhựa rung và biến dạng khi motor quay nhanh</a:t>
            </a:r>
          </a:p>
          <a:p>
            <a:pPr algn="l">
              <a:lnSpc>
                <a:spcPts val="4799"/>
              </a:lnSpc>
            </a:pPr>
            <a:r>
              <a:rPr lang="en-US" sz="3199" spc="63">
                <a:solidFill>
                  <a:srgbClr val="000000"/>
                </a:solidFill>
                <a:latin typeface="Cabin"/>
                <a:ea typeface="Cabin"/>
                <a:cs typeface="Cabin"/>
                <a:sym typeface="Cabin"/>
              </a:rPr>
              <a:t>- Gyro dao động mạnh khi motor chạy</a:t>
            </a:r>
          </a:p>
          <a:p>
            <a:pPr algn="l">
              <a:lnSpc>
                <a:spcPts val="4799"/>
              </a:lnSpc>
            </a:pPr>
            <a:r>
              <a:rPr lang="en-US" sz="3199" spc="63">
                <a:solidFill>
                  <a:srgbClr val="000000"/>
                </a:solidFill>
                <a:latin typeface="Cabin"/>
                <a:ea typeface="Cabin"/>
                <a:cs typeface="Cabin"/>
                <a:sym typeface="Cabin"/>
              </a:rPr>
              <a:t>- Một motor quay chậm hơn</a:t>
            </a:r>
          </a:p>
          <a:p>
            <a:pPr algn="l">
              <a:lnSpc>
                <a:spcPts val="4799"/>
              </a:lnSpc>
            </a:pPr>
            <a:r>
              <a:rPr lang="en-US" sz="3199" spc="63">
                <a:solidFill>
                  <a:srgbClr val="000000"/>
                </a:solidFill>
                <a:latin typeface="Cabin"/>
                <a:ea typeface="Cabin"/>
                <a:cs typeface="Cabin"/>
                <a:sym typeface="Cabin"/>
              </a:rPr>
              <a:t>- Chưa đủ ổn định để bay</a:t>
            </a:r>
          </a:p>
        </p:txBody>
      </p:sp>
      <p:sp>
        <p:nvSpPr>
          <p:cNvPr name="TextBox 6" id="6"/>
          <p:cNvSpPr txBox="true"/>
          <p:nvPr/>
        </p:nvSpPr>
        <p:spPr>
          <a:xfrm rot="0">
            <a:off x="1502876" y="2017186"/>
            <a:ext cx="11451590" cy="542925"/>
          </a:xfrm>
          <a:prstGeom prst="rect">
            <a:avLst/>
          </a:prstGeom>
        </p:spPr>
        <p:txBody>
          <a:bodyPr anchor="t" rtlCol="false" tIns="0" lIns="0" bIns="0" rIns="0">
            <a:spAutoFit/>
          </a:bodyPr>
          <a:lstStyle/>
          <a:p>
            <a:pPr algn="l" marL="0" indent="0" lvl="0">
              <a:lnSpc>
                <a:spcPts val="4200"/>
              </a:lnSpc>
            </a:pPr>
            <a:r>
              <a:rPr lang="en-US" b="true" sz="3500" spc="70">
                <a:solidFill>
                  <a:srgbClr val="000000"/>
                </a:solidFill>
                <a:latin typeface="Cabin Bold"/>
                <a:ea typeface="Cabin Bold"/>
                <a:cs typeface="Cabin Bold"/>
                <a:sym typeface="Cabin Bold"/>
              </a:rPr>
              <a:t>8.1 Khó khăn:</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964312" y="3580433"/>
            <a:ext cx="11464204" cy="2295525"/>
          </a:xfrm>
          <a:prstGeom prst="rect">
            <a:avLst/>
          </a:prstGeom>
        </p:spPr>
        <p:txBody>
          <a:bodyPr anchor="t" rtlCol="false" tIns="0" lIns="0" bIns="0" rIns="0">
            <a:spAutoFit/>
          </a:bodyPr>
          <a:lstStyle/>
          <a:p>
            <a:pPr algn="l" marL="0" indent="0" lvl="0">
              <a:lnSpc>
                <a:spcPts val="18000"/>
              </a:lnSpc>
            </a:pPr>
            <a:r>
              <a:rPr lang="en-US" b="true" sz="15000" spc="300">
                <a:solidFill>
                  <a:srgbClr val="000000"/>
                </a:solidFill>
                <a:latin typeface="Cabin Bold"/>
                <a:ea typeface="Cabin Bold"/>
                <a:cs typeface="Cabin Bold"/>
                <a:sym typeface="Cabin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DAHYjTOg9hE</dc:identifier>
  <dcterms:modified xsi:type="dcterms:W3CDTF">2011-08-01T06:04:30Z</dcterms:modified>
  <cp:revision>1</cp:revision>
  <dc:title>Báo cáo 22.10.2026</dc:title>
</cp:coreProperties>
</file>